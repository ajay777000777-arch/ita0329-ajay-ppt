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7863840" cy="173736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MOBILITY MODELS
IN MOBILE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6949440" cy="7772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900" b="0">
                <a:solidFill>
                  <a:srgbClr val="D1EFE6"/>
                </a:solidFill>
                <a:latin typeface="Aptos"/>
              </a:rPr>
              <a:t>Understanding how mobile users and devices move through an environment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914400"/>
            <a:ext cx="1051560" cy="105156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2011680"/>
            <a:ext cx="777240" cy="777240"/>
          </a:xfrm>
          <a:prstGeom prst="ellipse">
            <a:avLst/>
          </a:prstGeom>
          <a:solidFill>
            <a:srgbClr val="F4B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0" y="3200400"/>
            <a:ext cx="685800" cy="685800"/>
          </a:xfrm>
          <a:prstGeom prst="ellipse">
            <a:avLst/>
          </a:prstGeom>
          <a:solidFill>
            <a:srgbClr val="DAD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0" y="4114800"/>
            <a:ext cx="1005840" cy="1005840"/>
          </a:xfrm>
          <a:prstGeom prst="ellipse">
            <a:avLst/>
          </a:prstGeom>
          <a:solidFill>
            <a:srgbClr val="D1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0" y="4846320"/>
            <a:ext cx="502920" cy="502920"/>
          </a:xfrm>
          <a:prstGeom prst="ellipse">
            <a:avLst/>
          </a:prstGeom>
          <a:solidFill>
            <a:srgbClr val="C1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52560" y="1463040"/>
            <a:ext cx="1188720" cy="822960"/>
          </a:xfrm>
          <a:prstGeom prst="line">
            <a:avLst/>
          </a:prstGeom>
          <a:ln w="25400">
            <a:solidFill>
              <a:srgbClr val="91B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503920" y="1737360"/>
            <a:ext cx="365760" cy="1645920"/>
          </a:xfrm>
          <a:prstGeom prst="line">
            <a:avLst/>
          </a:prstGeom>
          <a:ln w="25400">
            <a:solidFill>
              <a:srgbClr val="91B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3657600"/>
            <a:ext cx="1828800" cy="822960"/>
          </a:xfrm>
          <a:prstGeom prst="line">
            <a:avLst/>
          </a:prstGeom>
          <a:ln w="25400">
            <a:solidFill>
              <a:srgbClr val="91B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32720" y="2743200"/>
            <a:ext cx="457200" cy="1463040"/>
          </a:xfrm>
          <a:prstGeom prst="line">
            <a:avLst/>
          </a:prstGeom>
          <a:ln w="25400">
            <a:solidFill>
              <a:srgbClr val="91B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144000" y="4572000"/>
            <a:ext cx="1371600" cy="548640"/>
          </a:xfrm>
          <a:prstGeom prst="line">
            <a:avLst/>
          </a:prstGeom>
          <a:ln w="25400">
            <a:solidFill>
              <a:srgbClr val="91B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udent Details - Properly Aligned"/>
          <p:cNvSpPr txBox="1"/>
          <p:nvPr/>
        </p:nvSpPr>
        <p:spPr>
          <a:xfrm>
            <a:off x="777240" y="5074920"/>
            <a:ext cx="6126480" cy="822960"/>
          </a:xfrm>
          <a:prstGeom prst="rect">
            <a:avLst/>
          </a:prstGeom>
          <a:noFill/>
        </p:spPr>
        <p:txBody>
          <a:bodyPr wrap="none" anchor="ctr" lIns="73152" rIns="73152" tIns="18288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Name: Ajay. 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Register No: 1972260095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566928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2800" b="1">
                <a:solidFill>
                  <a:srgbClr val="182B49"/>
                </a:solidFill>
                <a:latin typeface="Aptos"/>
              </a:rPr>
              <a:t>What Is a Mobility Model?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92240"/>
            <a:ext cx="2286000" cy="164592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r"/>
            <a:r>
              <a:rPr sz="900" b="1">
                <a:solidFill>
                  <a:srgbClr val="199197"/>
                </a:solidFill>
                <a:latin typeface="Aptos"/>
              </a:rPr>
              <a:t>02  •  MOBILE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675120" cy="48463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B3742"/>
                </a:solidFill>
                <a:latin typeface="Aptos"/>
              </a:defRPr>
            </a:pPr>
            <a:r>
              <a:t>A mobility model describes how a mobile user or device moves over time.</a:t>
            </a:r>
          </a:p>
          <a:p>
            <a:pPr>
              <a:spcAft>
                <a:spcPts val="1300"/>
              </a:spcAft>
              <a:defRPr sz="1900">
                <a:solidFill>
                  <a:srgbClr val="2B3742"/>
                </a:solidFill>
                <a:latin typeface="Aptos"/>
              </a:defRPr>
            </a:pPr>
            <a:r>
              <a:t>It can define movement direction, speed, pause time and destination.</a:t>
            </a:r>
          </a:p>
          <a:p>
            <a:pPr>
              <a:spcAft>
                <a:spcPts val="1300"/>
              </a:spcAft>
              <a:defRPr sz="1900">
                <a:solidFill>
                  <a:srgbClr val="2B3742"/>
                </a:solidFill>
                <a:latin typeface="Aptos"/>
              </a:defRPr>
            </a:pPr>
            <a:r>
              <a:t>Researchers use models to imitate realistic movement in a computer simulation.</a:t>
            </a:r>
          </a:p>
          <a:p>
            <a:pPr>
              <a:spcAft>
                <a:spcPts val="1300"/>
              </a:spcAft>
              <a:defRPr sz="1900">
                <a:solidFill>
                  <a:srgbClr val="2B3742"/>
                </a:solidFill>
                <a:latin typeface="Aptos"/>
              </a:defRPr>
            </a:pPr>
            <a:r>
              <a:t>Examples of mobile entities: smartphones, vehicles, robots and wireless sensor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5544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709928"/>
            <a:ext cx="301752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21408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Where does the device go?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063240"/>
            <a:ext cx="3383280" cy="1234440"/>
          </a:xfrm>
          <a:prstGeom prst="roundRect">
            <a:avLst/>
          </a:prstGeom>
          <a:solidFill>
            <a:srgbClr val="C1DEF4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218688"/>
            <a:ext cx="301752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630168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How fast does it move?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572000"/>
            <a:ext cx="3383280" cy="1234440"/>
          </a:xfrm>
          <a:prstGeom prst="roundRect">
            <a:avLst/>
          </a:prstGeom>
          <a:solidFill>
            <a:srgbClr val="D1EFE6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727448"/>
            <a:ext cx="301752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Pause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138928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Does it stop before moving again?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566928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2800" b="1">
                <a:solidFill>
                  <a:srgbClr val="182B49"/>
                </a:solidFill>
                <a:latin typeface="Aptos"/>
              </a:rPr>
              <a:t>Why Are Mobility Models Needed?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92240"/>
            <a:ext cx="2286000" cy="164592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r"/>
            <a:r>
              <a:rPr sz="900" b="1">
                <a:solidFill>
                  <a:srgbClr val="199197"/>
                </a:solidFill>
                <a:latin typeface="Aptos"/>
              </a:rPr>
              <a:t>03  •  MOBILE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Network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3108960" cy="9601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Test wireless network performance under movement.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18488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Protocol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29968"/>
            <a:ext cx="3108960" cy="9601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Evaluate routing and handoff methods.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18488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Cost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29968"/>
            <a:ext cx="3108960" cy="9601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Simulate scenarios before real-world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657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813048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Performance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224528"/>
            <a:ext cx="3108960" cy="9601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Study delay, packet loss and throughput.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3474720" cy="1645920"/>
          </a:xfrm>
          <a:prstGeom prst="roundRect">
            <a:avLst/>
          </a:prstGeom>
          <a:solidFill>
            <a:srgbClr val="C1DEF4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13048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Coverage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24528"/>
            <a:ext cx="3108960" cy="9601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Understand changing connections as users move.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566928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2800" b="1">
                <a:solidFill>
                  <a:srgbClr val="182B49"/>
                </a:solidFill>
                <a:latin typeface="Aptos"/>
              </a:rPr>
              <a:t>Main Categories of Mobility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92240"/>
            <a:ext cx="2286000" cy="164592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r"/>
            <a:r>
              <a:rPr sz="900" b="1">
                <a:solidFill>
                  <a:srgbClr val="199197"/>
                </a:solidFill>
                <a:latin typeface="Aptos"/>
              </a:rPr>
              <a:t>04  •  MOBILE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484632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Entity-based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4846320" cy="269748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Describe movement of individual users or devices.
Examples: Random Waypoint, Random Walk and Gauss–Markov.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09928"/>
            <a:ext cx="484632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Group-based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21408"/>
            <a:ext cx="4846320" cy="269748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Describe people or devices moving together or following a leader.
Examples: Reference Point Group Mobility and group movement in a crowd.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1700" b="1">
                <a:solidFill>
                  <a:srgbClr val="199197"/>
                </a:solidFill>
                <a:latin typeface="Aptos"/>
              </a:rPr>
              <a:t>The best model depends on the real situation being simulated.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566928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2800" b="1">
                <a:solidFill>
                  <a:srgbClr val="182B49"/>
                </a:solidFill>
                <a:latin typeface="Aptos"/>
              </a:rPr>
              <a:t>Random Walk Mobility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92240"/>
            <a:ext cx="2286000" cy="164592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r"/>
            <a:r>
              <a:rPr sz="900" b="1">
                <a:solidFill>
                  <a:srgbClr val="199197"/>
                </a:solidFill>
                <a:latin typeface="Aptos"/>
              </a:rPr>
              <a:t>05  •  MOBILE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675120" cy="48463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The device chooses a random direction and speed for each movement step.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After a step, it chooses another direction and continues.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Movement is unpredictable and does not require a fixed destination.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Useful for simple simulations, but may not represent real human travel well.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137160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1700" b="1">
                <a:solidFill>
                  <a:srgbClr val="199197"/>
                </a:solidFill>
                <a:latin typeface="Aptos"/>
              </a:rPr>
              <a:t>Example path</a:t>
            </a:r>
          </a:p>
        </p:txBody>
      </p:sp>
      <p:sp>
        <p:nvSpPr>
          <p:cNvPr id="7" name="Oval 6"/>
          <p:cNvSpPr/>
          <p:nvPr/>
        </p:nvSpPr>
        <p:spPr>
          <a:xfrm>
            <a:off x="8046720" y="1920240"/>
            <a:ext cx="182880" cy="182880"/>
          </a:xfrm>
          <a:prstGeom prst="ellipse">
            <a:avLst/>
          </a:prstGeom>
          <a:solidFill>
            <a:srgbClr val="F4B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0" y="2377440"/>
            <a:ext cx="182880" cy="18288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138160" y="2011680"/>
            <a:ext cx="731520" cy="457200"/>
          </a:xfrm>
          <a:prstGeom prst="line">
            <a:avLst/>
          </a:prstGeom>
          <a:ln w="25400">
            <a:solidFill>
              <a:srgbClr val="18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412480" y="3200400"/>
            <a:ext cx="182880" cy="18288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8503919" y="2468880"/>
            <a:ext cx="365761" cy="822960"/>
          </a:xfrm>
          <a:prstGeom prst="line">
            <a:avLst/>
          </a:prstGeom>
          <a:ln w="25400">
            <a:solidFill>
              <a:srgbClr val="18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326880" y="3566160"/>
            <a:ext cx="182880" cy="18288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503919" y="3291840"/>
            <a:ext cx="914400" cy="365760"/>
          </a:xfrm>
          <a:prstGeom prst="line">
            <a:avLst/>
          </a:prstGeom>
          <a:ln w="25400">
            <a:solidFill>
              <a:srgbClr val="18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241280" y="2834640"/>
            <a:ext cx="182880" cy="18288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9418319" y="2926080"/>
            <a:ext cx="914400" cy="731520"/>
          </a:xfrm>
          <a:prstGeom prst="line">
            <a:avLst/>
          </a:prstGeom>
          <a:ln w="25400">
            <a:solidFill>
              <a:srgbClr val="18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789920" y="3657600"/>
            <a:ext cx="182880" cy="18288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332719" y="2926080"/>
            <a:ext cx="548641" cy="822959"/>
          </a:xfrm>
          <a:prstGeom prst="line">
            <a:avLst/>
          </a:prstGeom>
          <a:ln w="25400">
            <a:solidFill>
              <a:srgbClr val="18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26679" y="4251960"/>
            <a:ext cx="3474720" cy="45720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1400" b="0">
                <a:solidFill>
                  <a:srgbClr val="2B3742"/>
                </a:solidFill>
                <a:latin typeface="Aptos"/>
              </a:rPr>
              <a:t>Each turn is chosen randomly.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566928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2800" b="1">
                <a:solidFill>
                  <a:srgbClr val="182B49"/>
                </a:solidFill>
                <a:latin typeface="Aptos"/>
              </a:rPr>
              <a:t>Random Waypoint Mobility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92240"/>
            <a:ext cx="2286000" cy="164592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r"/>
            <a:r>
              <a:rPr sz="900" b="1">
                <a:solidFill>
                  <a:srgbClr val="199197"/>
                </a:solidFill>
                <a:latin typeface="Aptos"/>
              </a:rPr>
              <a:t>06  •  MOBILE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583680" cy="48463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A device selects a random destination within a defined area.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It travels toward that destination at a chosen speed.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It may pause for a set time after reaching the destination.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Then it selects another destination and repeats the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5087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59" y="1664207"/>
            <a:ext cx="306324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1. 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59" y="2075688"/>
            <a:ext cx="3063240" cy="5029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Pick a random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926080"/>
            <a:ext cx="3429000" cy="1188720"/>
          </a:xfrm>
          <a:prstGeom prst="roundRect">
            <a:avLst/>
          </a:prstGeom>
          <a:solidFill>
            <a:srgbClr val="C1DEF4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59" y="3081528"/>
            <a:ext cx="306324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2.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59" y="3493008"/>
            <a:ext cx="3063240" cy="5029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Travel toward the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343400"/>
            <a:ext cx="3429000" cy="1188720"/>
          </a:xfrm>
          <a:prstGeom prst="roundRect">
            <a:avLst/>
          </a:prstGeom>
          <a:solidFill>
            <a:srgbClr val="D1EFE6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4498848"/>
            <a:ext cx="306324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3. Pause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4910328"/>
            <a:ext cx="3063240" cy="5029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Wait, then choose again.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1500" b="1">
                <a:solidFill>
                  <a:srgbClr val="199197"/>
                </a:solidFill>
                <a:latin typeface="Aptos"/>
              </a:rPr>
              <a:t>Example: a person walking between different places on a campus.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566928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2800" b="1">
                <a:solidFill>
                  <a:srgbClr val="182B49"/>
                </a:solidFill>
                <a:latin typeface="Aptos"/>
              </a:rPr>
              <a:t>Gauss–Markov Mobility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92240"/>
            <a:ext cx="2286000" cy="164592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r"/>
            <a:r>
              <a:rPr sz="900" b="1">
                <a:solidFill>
                  <a:srgbClr val="199197"/>
                </a:solidFill>
                <a:latin typeface="Aptos"/>
              </a:rPr>
              <a:t>07  •  MOBILE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858000" cy="48463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Movement is smoother because the next speed and direction depend partly on the previous ones.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A tunable parameter controls how much movement is predictable versus random.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It avoids some of the sudden turns seen in basic random models.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Useful for modeling vehicles or users whose movement changes gradually.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0020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9" y="1755648"/>
            <a:ext cx="292608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Previous 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2167128"/>
            <a:ext cx="2926080" cy="5486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Influences the next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54680"/>
            <a:ext cx="3291840" cy="1234440"/>
          </a:xfrm>
          <a:prstGeom prst="roundRect">
            <a:avLst/>
          </a:prstGeom>
          <a:solidFill>
            <a:srgbClr val="C1DEF4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3310128"/>
            <a:ext cx="292608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82B49"/>
                </a:solidFill>
                <a:latin typeface="Aptos"/>
              </a:rPr>
              <a:t>Small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3721608"/>
            <a:ext cx="2926080" cy="5486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Speed and direction can change gradually.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709160"/>
            <a:ext cx="3291840" cy="1051560"/>
          </a:xfrm>
          <a:prstGeom prst="roundRect">
            <a:avLst/>
          </a:prstGeom>
          <a:solidFill>
            <a:srgbClr val="D1EFE6"/>
          </a:solidFill>
          <a:ln>
            <a:solidFill>
              <a:srgbClr val="DA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4864608"/>
            <a:ext cx="2926080" cy="329184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700" b="1">
                <a:solidFill>
                  <a:srgbClr val="199197"/>
                </a:solidFill>
                <a:latin typeface="Aptos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5276088"/>
            <a:ext cx="2926080" cy="365759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1400" b="0">
                <a:solidFill>
                  <a:srgbClr val="2B3742"/>
                </a:solidFill>
                <a:latin typeface="Aptos"/>
              </a:rPr>
              <a:t>A smoother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566928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2800" b="1">
                <a:solidFill>
                  <a:srgbClr val="182B49"/>
                </a:solidFill>
                <a:latin typeface="Aptos"/>
              </a:rPr>
              <a:t>Group Mobility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92240"/>
            <a:ext cx="2286000" cy="164592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r"/>
            <a:r>
              <a:rPr sz="900" b="1">
                <a:solidFill>
                  <a:srgbClr val="199197"/>
                </a:solidFill>
                <a:latin typeface="Aptos"/>
              </a:rPr>
              <a:t>08  •  MOBILE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949440" cy="48463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A group of mobile users moves together or maintains relationships while moving.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Some models use a leader or reference point to guide the group.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Members may move around the group’s general direction rather than follow identical paths.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Examples: friends walking together, a tour group or soldiers moving as a unit.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417320"/>
            <a:ext cx="3291840" cy="3200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1600" b="1">
                <a:solidFill>
                  <a:srgbClr val="199197"/>
                </a:solidFill>
                <a:latin typeface="Aptos"/>
              </a:rPr>
              <a:t>Group movement illustration</a:t>
            </a:r>
          </a:p>
        </p:txBody>
      </p:sp>
      <p:sp>
        <p:nvSpPr>
          <p:cNvPr id="7" name="Oval 6"/>
          <p:cNvSpPr/>
          <p:nvPr/>
        </p:nvSpPr>
        <p:spPr>
          <a:xfrm>
            <a:off x="9144000" y="2148840"/>
            <a:ext cx="329184" cy="329184"/>
          </a:xfrm>
          <a:prstGeom prst="ellipse">
            <a:avLst/>
          </a:prstGeom>
          <a:solidFill>
            <a:srgbClr val="F4B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828800"/>
            <a:ext cx="914400" cy="22860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1100" b="1">
                <a:solidFill>
                  <a:srgbClr val="182B49"/>
                </a:solidFill>
                <a:latin typeface="Aptos"/>
              </a:rPr>
              <a:t>Leader</a:t>
            </a:r>
          </a:p>
        </p:txBody>
      </p:sp>
      <p:sp>
        <p:nvSpPr>
          <p:cNvPr id="9" name="Oval 8"/>
          <p:cNvSpPr/>
          <p:nvPr/>
        </p:nvSpPr>
        <p:spPr>
          <a:xfrm>
            <a:off x="8229600" y="2834640"/>
            <a:ext cx="228600" cy="22860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8339327" y="2331720"/>
            <a:ext cx="969265" cy="612648"/>
          </a:xfrm>
          <a:prstGeom prst="line">
            <a:avLst/>
          </a:prstGeom>
          <a:ln w="19050">
            <a:solidFill>
              <a:srgbClr val="9DB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326880" y="3063240"/>
            <a:ext cx="228600" cy="22860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308592" y="2331720"/>
            <a:ext cx="128015" cy="841248"/>
          </a:xfrm>
          <a:prstGeom prst="line">
            <a:avLst/>
          </a:prstGeom>
          <a:ln w="19050">
            <a:solidFill>
              <a:srgbClr val="9DB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149840" y="2651760"/>
            <a:ext cx="228600" cy="22860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308592" y="2331720"/>
            <a:ext cx="950975" cy="429768"/>
          </a:xfrm>
          <a:prstGeom prst="line">
            <a:avLst/>
          </a:prstGeom>
          <a:ln w="19050">
            <a:solidFill>
              <a:srgbClr val="9DB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595360" y="3840480"/>
            <a:ext cx="228600" cy="22860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8705088" y="2331720"/>
            <a:ext cx="603504" cy="1618488"/>
          </a:xfrm>
          <a:prstGeom prst="line">
            <a:avLst/>
          </a:prstGeom>
          <a:ln w="19050">
            <a:solidFill>
              <a:srgbClr val="9DB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784080" y="3977639"/>
            <a:ext cx="228600" cy="228600"/>
          </a:xfrm>
          <a:prstGeom prst="ellipse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308592" y="2331720"/>
            <a:ext cx="585215" cy="1755648"/>
          </a:xfrm>
          <a:prstGeom prst="line">
            <a:avLst/>
          </a:prstGeom>
          <a:ln w="19050">
            <a:solidFill>
              <a:srgbClr val="9DB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35240" y="4663440"/>
            <a:ext cx="3566160" cy="5486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1300" b="0">
                <a:solidFill>
                  <a:srgbClr val="2B3742"/>
                </a:solidFill>
                <a:latin typeface="Aptos"/>
              </a:rPr>
              <a:t>Members follow the group's general movement.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566928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2800" b="1">
                <a:solidFill>
                  <a:srgbClr val="182B49"/>
                </a:solidFill>
                <a:latin typeface="Aptos"/>
              </a:rPr>
              <a:t>Vehicular and Road-Based Mobility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92240"/>
            <a:ext cx="2286000" cy="164592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r"/>
            <a:r>
              <a:rPr sz="900" b="1">
                <a:solidFill>
                  <a:srgbClr val="199197"/>
                </a:solidFill>
                <a:latin typeface="Aptos"/>
              </a:rPr>
              <a:t>09  •  MOBILE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040880" cy="48463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Vehicles usually move along roads instead of choosing any point in an open area.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Movement depends on road layout, speed limits, traffic signals and congestion.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Vehicles may slow down, stop and turn at intersections.</a:t>
            </a:r>
          </a:p>
          <a:p>
            <a:pPr>
              <a:spcAft>
                <a:spcPts val="1300"/>
              </a:spcAft>
              <a:defRPr sz="1800">
                <a:solidFill>
                  <a:srgbClr val="2B3742"/>
                </a:solidFill>
                <a:latin typeface="Aptos"/>
              </a:defRPr>
            </a:pPr>
            <a:r>
              <a:t>Used to simulate vehicular ad hoc networks (VANETs), smart traffic and connected cars.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194560"/>
            <a:ext cx="3383280" cy="1280160"/>
          </a:xfrm>
          <a:prstGeom prst="rect">
            <a:avLst/>
          </a:prstGeom>
          <a:solidFill>
            <a:srgbClr val="50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2788920"/>
            <a:ext cx="36576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2788920"/>
            <a:ext cx="36576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0" y="2788920"/>
            <a:ext cx="36576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6960" y="2788920"/>
            <a:ext cx="36576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07040" y="2788920"/>
            <a:ext cx="36576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2423160"/>
            <a:ext cx="594360" cy="320040"/>
          </a:xfrm>
          <a:prstGeom prst="round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0" y="2423160"/>
            <a:ext cx="594360" cy="320040"/>
          </a:xfrm>
          <a:prstGeom prst="roundRect">
            <a:avLst/>
          </a:prstGeom>
          <a:solidFill>
            <a:srgbClr val="F4B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0" y="2423160"/>
            <a:ext cx="594360" cy="320040"/>
          </a:xfrm>
          <a:prstGeom prst="round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794760"/>
            <a:ext cx="3474720" cy="32004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1500" b="1">
                <a:solidFill>
                  <a:srgbClr val="199197"/>
                </a:solidFill>
                <a:latin typeface="Aptos"/>
              </a:rPr>
              <a:t>Road-constrained movement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566928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2800" b="1">
                <a:solidFill>
                  <a:srgbClr val="182B49"/>
                </a:solidFill>
                <a:latin typeface="Aptos"/>
              </a:rPr>
              <a:t>Comparison of Common Mobility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92240"/>
            <a:ext cx="2286000" cy="164592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r"/>
            <a:r>
              <a:rPr sz="900" b="1">
                <a:solidFill>
                  <a:srgbClr val="199197"/>
                </a:solidFill>
                <a:latin typeface="Aptos"/>
              </a:rPr>
              <a:t>10  •  MOBILE COMPUTING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108356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114800"/>
                <a:gridCol w="4526280"/>
              </a:tblGrid>
              <a:tr h="7162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109728" marR="91440" marT="73152" marB="45720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Movement pattern</a:t>
                      </a:r>
                    </a:p>
                  </a:txBody>
                  <a:tcPr marL="109728" marR="91440" marT="73152" marB="45720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Typical use</a:t>
                      </a:r>
                    </a:p>
                  </a:txBody>
                  <a:tcPr marL="109728" marR="91440" marT="73152" marB="45720">
                    <a:solidFill>
                      <a:srgbClr val="182B4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Random Walk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Random step-by-step direction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Basic mobility tests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Random Waypoint</a:t>
                      </a:r>
                    </a:p>
                  </a:txBody>
                  <a:tcPr marL="109728" marR="91440" marT="73152" marB="45720">
                    <a:solidFill>
                      <a:srgbClr val="E5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Random destination + possible pause</a:t>
                      </a:r>
                    </a:p>
                  </a:txBody>
                  <a:tcPr marL="109728" marR="91440" marT="73152" marB="45720">
                    <a:solidFill>
                      <a:srgbClr val="E5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General mobile users</a:t>
                      </a:r>
                    </a:p>
                  </a:txBody>
                  <a:tcPr marL="109728" marR="91440" marT="73152" marB="45720">
                    <a:solidFill>
                      <a:srgbClr val="E5F1F4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Gauss–Markov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Gradual changes in speed/direction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Smoother movement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Group Mobility</a:t>
                      </a:r>
                    </a:p>
                  </a:txBody>
                  <a:tcPr marL="109728" marR="91440" marT="73152" marB="45720">
                    <a:solidFill>
                      <a:srgbClr val="E5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Users move as a group</a:t>
                      </a:r>
                    </a:p>
                  </a:txBody>
                  <a:tcPr marL="109728" marR="91440" marT="73152" marB="45720">
                    <a:solidFill>
                      <a:srgbClr val="E5F1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Crowds or teams</a:t>
                      </a:r>
                    </a:p>
                  </a:txBody>
                  <a:tcPr marL="109728" marR="91440" marT="73152" marB="45720">
                    <a:solidFill>
                      <a:srgbClr val="E5F1F4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Road-Based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Movement follows roads and traffic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B3742"/>
                          </a:solidFill>
                          <a:latin typeface="Aptos"/>
                        </a:defRPr>
                      </a:pPr>
                      <a:r>
                        <a:t>Vehicles and VANETs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989320"/>
            <a:ext cx="10241280" cy="2743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1500" b="1">
                <a:solidFill>
                  <a:srgbClr val="199197"/>
                </a:solidFill>
                <a:latin typeface="Aptos"/>
              </a:rPr>
              <a:t>No single model is best for every scenario.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SUMMARY &amp; 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234440"/>
            <a:ext cx="1097280" cy="64008"/>
          </a:xfrm>
          <a:prstGeom prst="rect">
            <a:avLst/>
          </a:prstGeom>
          <a:solidFill>
            <a:srgbClr val="1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9966960" cy="338328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74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Mobility models represent how devices and users move over time.</a:t>
            </a:r>
          </a:p>
          <a:p>
            <a:pPr>
              <a:spcAft>
                <a:spcPts val="1300"/>
              </a:spcAft>
              <a:defRPr sz="2000">
                <a:solidFill>
                  <a:srgbClr val="2B374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They help researchers test wireless networks and communication protocols.</a:t>
            </a:r>
          </a:p>
          <a:p>
            <a:pPr>
              <a:spcAft>
                <a:spcPts val="1300"/>
              </a:spcAft>
              <a:defRPr sz="2000">
                <a:solidFill>
                  <a:srgbClr val="2B374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Common models include Random Walk, Random Waypoint, Gauss–Markov, group and road-based models.</a:t>
            </a:r>
          </a:p>
          <a:p>
            <a:pPr>
              <a:spcAft>
                <a:spcPts val="1300"/>
              </a:spcAft>
              <a:defRPr sz="2000">
                <a:solidFill>
                  <a:srgbClr val="2B374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Choose a model that matches the real environment being studied.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18288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